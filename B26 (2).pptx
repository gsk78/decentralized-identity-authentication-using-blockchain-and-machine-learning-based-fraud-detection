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71" r:id="rId4"/>
    <p:sldId id="261" r:id="rId5"/>
    <p:sldId id="269" r:id="rId6"/>
    <p:sldId id="274" r:id="rId7"/>
    <p:sldId id="277" r:id="rId8"/>
    <p:sldId id="263" r:id="rId9"/>
    <p:sldId id="287" r:id="rId10"/>
    <p:sldId id="289" r:id="rId11"/>
    <p:sldId id="264" r:id="rId12"/>
    <p:sldId id="276" r:id="rId13"/>
    <p:sldId id="283" r:id="rId14"/>
    <p:sldId id="284" r:id="rId15"/>
    <p:sldId id="285" r:id="rId16"/>
    <p:sldId id="281" r:id="rId17"/>
    <p:sldId id="279" r:id="rId18"/>
    <p:sldId id="286" r:id="rId19"/>
    <p:sldId id="282" r:id="rId20"/>
    <p:sldId id="288" r:id="rId21"/>
    <p:sldId id="26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874484-998B-4786-9ADC-55E37B99D869}" v="16" dt="2026-02-28T04:18:12.4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ANAM GANESH SHANKAR KUMAR" userId="7543e108bc98001f" providerId="LiveId" clId="{885CB6C8-5262-45AA-B782-88983A2FE2C5}"/>
    <pc:docChg chg="undo custSel addSld modSld">
      <pc:chgData name="KARANAM GANESH SHANKAR KUMAR" userId="7543e108bc98001f" providerId="LiveId" clId="{885CB6C8-5262-45AA-B782-88983A2FE2C5}" dt="2026-02-28T04:41:14.029" v="185" actId="20577"/>
      <pc:docMkLst>
        <pc:docMk/>
      </pc:docMkLst>
      <pc:sldChg chg="addSp delSp modSp mod">
        <pc:chgData name="KARANAM GANESH SHANKAR KUMAR" userId="7543e108bc98001f" providerId="LiveId" clId="{885CB6C8-5262-45AA-B782-88983A2FE2C5}" dt="2026-02-28T04:41:14.029" v="185" actId="20577"/>
        <pc:sldMkLst>
          <pc:docMk/>
          <pc:sldMk cId="0" sldId="257"/>
        </pc:sldMkLst>
        <pc:spChg chg="mod">
          <ac:chgData name="KARANAM GANESH SHANKAR KUMAR" userId="7543e108bc98001f" providerId="LiveId" clId="{885CB6C8-5262-45AA-B782-88983A2FE2C5}" dt="2026-02-28T04:40:54.759" v="177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KARANAM GANESH SHANKAR KUMAR" userId="7543e108bc98001f" providerId="LiveId" clId="{885CB6C8-5262-45AA-B782-88983A2FE2C5}" dt="2026-02-28T04:41:14.029" v="185" actId="20577"/>
          <ac:spMkLst>
            <pc:docMk/>
            <pc:sldMk cId="0" sldId="257"/>
            <ac:spMk id="8" creationId="{00000000-0000-0000-0000-000000000000}"/>
          </ac:spMkLst>
        </pc:spChg>
        <pc:spChg chg="add del">
          <ac:chgData name="KARANAM GANESH SHANKAR KUMAR" userId="7543e108bc98001f" providerId="LiveId" clId="{885CB6C8-5262-45AA-B782-88983A2FE2C5}" dt="2026-02-28T04:15:23.538" v="40" actId="22"/>
          <ac:spMkLst>
            <pc:docMk/>
            <pc:sldMk cId="0" sldId="257"/>
            <ac:spMk id="12" creationId="{FAA1227C-C8C6-B8FB-C5BC-FD32FFAA8D95}"/>
          </ac:spMkLst>
        </pc:spChg>
      </pc:sldChg>
      <pc:sldChg chg="modSp add mod">
        <pc:chgData name="KARANAM GANESH SHANKAR KUMAR" userId="7543e108bc98001f" providerId="LiveId" clId="{885CB6C8-5262-45AA-B782-88983A2FE2C5}" dt="2026-02-28T04:18:34.910" v="155" actId="20577"/>
        <pc:sldMkLst>
          <pc:docMk/>
          <pc:sldMk cId="0" sldId="258"/>
        </pc:sldMkLst>
        <pc:spChg chg="mod">
          <ac:chgData name="KARANAM GANESH SHANKAR KUMAR" userId="7543e108bc98001f" providerId="LiveId" clId="{885CB6C8-5262-45AA-B782-88983A2FE2C5}" dt="2026-02-28T04:18:34.910" v="155" actId="20577"/>
          <ac:spMkLst>
            <pc:docMk/>
            <pc:sldMk cId="0" sldId="258"/>
            <ac:spMk id="3" creationId="{00000000-0000-0000-0000-000000000000}"/>
          </ac:spMkLst>
        </pc:spChg>
      </pc:sldChg>
      <pc:sldChg chg="add">
        <pc:chgData name="KARANAM GANESH SHANKAR KUMAR" userId="7543e108bc98001f" providerId="LiveId" clId="{885CB6C8-5262-45AA-B782-88983A2FE2C5}" dt="2026-02-27T06:12:03.165" v="2"/>
        <pc:sldMkLst>
          <pc:docMk/>
          <pc:sldMk cId="0" sldId="266"/>
        </pc:sldMkLst>
      </pc:sldChg>
      <pc:sldChg chg="add">
        <pc:chgData name="KARANAM GANESH SHANKAR KUMAR" userId="7543e108bc98001f" providerId="LiveId" clId="{885CB6C8-5262-45AA-B782-88983A2FE2C5}" dt="2026-02-27T06:16:23.999" v="38"/>
        <pc:sldMkLst>
          <pc:docMk/>
          <pc:sldMk cId="1505976102" sldId="279"/>
        </pc:sldMkLst>
      </pc:sldChg>
      <pc:sldChg chg="add">
        <pc:chgData name="KARANAM GANESH SHANKAR KUMAR" userId="7543e108bc98001f" providerId="LiveId" clId="{885CB6C8-5262-45AA-B782-88983A2FE2C5}" dt="2026-02-27T06:09:51.048" v="0"/>
        <pc:sldMkLst>
          <pc:docMk/>
          <pc:sldMk cId="1124430568" sldId="281"/>
        </pc:sldMkLst>
      </pc:sldChg>
      <pc:sldChg chg="addSp modSp add">
        <pc:chgData name="KARANAM GANESH SHANKAR KUMAR" userId="7543e108bc98001f" providerId="LiveId" clId="{885CB6C8-5262-45AA-B782-88983A2FE2C5}" dt="2026-02-27T06:16:13.582" v="37"/>
        <pc:sldMkLst>
          <pc:docMk/>
          <pc:sldMk cId="832814900" sldId="282"/>
        </pc:sldMkLst>
        <pc:picChg chg="add mod">
          <ac:chgData name="KARANAM GANESH SHANKAR KUMAR" userId="7543e108bc98001f" providerId="LiveId" clId="{885CB6C8-5262-45AA-B782-88983A2FE2C5}" dt="2026-02-27T06:16:13.582" v="37"/>
          <ac:picMkLst>
            <pc:docMk/>
            <pc:sldMk cId="832814900" sldId="282"/>
            <ac:picMk id="2" creationId="{AA4BFDCB-0C84-2F81-088F-971F885CE4AE}"/>
          </ac:picMkLst>
        </pc:picChg>
      </pc:sldChg>
      <pc:sldChg chg="addSp delSp modSp new mod">
        <pc:chgData name="KARANAM GANESH SHANKAR KUMAR" userId="7543e108bc98001f" providerId="LiveId" clId="{885CB6C8-5262-45AA-B782-88983A2FE2C5}" dt="2026-02-27T06:15:47.293" v="36" actId="1076"/>
        <pc:sldMkLst>
          <pc:docMk/>
          <pc:sldMk cId="2256268118" sldId="285"/>
        </pc:sldMkLst>
        <pc:spChg chg="add mod">
          <ac:chgData name="KARANAM GANESH SHANKAR KUMAR" userId="7543e108bc98001f" providerId="LiveId" clId="{885CB6C8-5262-45AA-B782-88983A2FE2C5}" dt="2026-02-27T06:14:39.463" v="27" actId="20577"/>
          <ac:spMkLst>
            <pc:docMk/>
            <pc:sldMk cId="2256268118" sldId="285"/>
            <ac:spMk id="10" creationId="{8E86296E-E5B0-744A-2D7B-4F0FB63FC765}"/>
          </ac:spMkLst>
        </pc:spChg>
        <pc:spChg chg="add mod">
          <ac:chgData name="KARANAM GANESH SHANKAR KUMAR" userId="7543e108bc98001f" providerId="LiveId" clId="{885CB6C8-5262-45AA-B782-88983A2FE2C5}" dt="2026-02-27T06:15:25.867" v="33" actId="1076"/>
          <ac:spMkLst>
            <pc:docMk/>
            <pc:sldMk cId="2256268118" sldId="285"/>
            <ac:spMk id="11" creationId="{889C0F9B-EA78-A044-BC68-BECF0F282866}"/>
          </ac:spMkLst>
        </pc:spChg>
        <pc:picChg chg="add del mod">
          <ac:chgData name="KARANAM GANESH SHANKAR KUMAR" userId="7543e108bc98001f" providerId="LiveId" clId="{885CB6C8-5262-45AA-B782-88983A2FE2C5}" dt="2026-02-27T06:12:38.224" v="11" actId="931"/>
          <ac:picMkLst>
            <pc:docMk/>
            <pc:sldMk cId="2256268118" sldId="285"/>
            <ac:picMk id="3" creationId="{0B979188-09C3-2990-A31F-BB521AF113AC}"/>
          </ac:picMkLst>
        </pc:picChg>
        <pc:picChg chg="add del mod">
          <ac:chgData name="KARANAM GANESH SHANKAR KUMAR" userId="7543e108bc98001f" providerId="LiveId" clId="{885CB6C8-5262-45AA-B782-88983A2FE2C5}" dt="2026-02-27T06:12:38.224" v="11" actId="931"/>
          <ac:picMkLst>
            <pc:docMk/>
            <pc:sldMk cId="2256268118" sldId="285"/>
            <ac:picMk id="5" creationId="{00C2086B-521E-65BA-81C5-F32C5977C248}"/>
          </ac:picMkLst>
        </pc:picChg>
        <pc:picChg chg="add mod">
          <ac:chgData name="KARANAM GANESH SHANKAR KUMAR" userId="7543e108bc98001f" providerId="LiveId" clId="{885CB6C8-5262-45AA-B782-88983A2FE2C5}" dt="2026-02-27T06:15:36.414" v="34" actId="14100"/>
          <ac:picMkLst>
            <pc:docMk/>
            <pc:sldMk cId="2256268118" sldId="285"/>
            <ac:picMk id="7" creationId="{C552D191-CD52-E608-20BF-5969821D1CA0}"/>
          </ac:picMkLst>
        </pc:picChg>
        <pc:picChg chg="add mod">
          <ac:chgData name="KARANAM GANESH SHANKAR KUMAR" userId="7543e108bc98001f" providerId="LiveId" clId="{885CB6C8-5262-45AA-B782-88983A2FE2C5}" dt="2026-02-27T06:13:02.760" v="15" actId="1076"/>
          <ac:picMkLst>
            <pc:docMk/>
            <pc:sldMk cId="2256268118" sldId="285"/>
            <ac:picMk id="9" creationId="{27392B68-F819-8317-AF0E-4BD7E5FEE12F}"/>
          </ac:picMkLst>
        </pc:picChg>
        <pc:picChg chg="add mod">
          <ac:chgData name="KARANAM GANESH SHANKAR KUMAR" userId="7543e108bc98001f" providerId="LiveId" clId="{885CB6C8-5262-45AA-B782-88983A2FE2C5}" dt="2026-02-27T06:15:47.293" v="36" actId="1076"/>
          <ac:picMkLst>
            <pc:docMk/>
            <pc:sldMk cId="2256268118" sldId="285"/>
            <ac:picMk id="12" creationId="{60845883-23EA-DE3E-49E3-F58113D1D45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43259-09F5-4FA5-950E-AB8828F2B06B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09F41-150A-428B-9B3C-38EA36650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67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D66B6-27C7-4D1A-8625-B3191C384B5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829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7FF2F-DB7B-D091-AD88-40E5065AF8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EF0C1D-1FE3-A667-0635-383F7AF18E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5EA8A-53AC-C340-FFC9-9369CE9EB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D88C-9159-4FD6-AD7F-B7513B09550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0B361-E9AF-F9AF-D2D0-1D08E0250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7BB9-63AF-B378-74A1-2DE55F75E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CD6A-7F92-4E91-AB36-59C6B3414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969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31909-A1D1-E989-ADCA-A55A844D3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A8289-7DDF-EEDF-578D-674AB6DF5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FB341-4273-1652-C4E2-D0614DA20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D88C-9159-4FD6-AD7F-B7513B09550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C4907-96D9-9353-F52F-712BF2416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CF262-FB49-A169-1E8B-3ED233E7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CD6A-7F92-4E91-AB36-59C6B3414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34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A0C73-26D5-F07C-0B69-D655552AD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45421-BE0C-48E5-9840-D575B6957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0A6DE-6F8A-D8CD-B5EE-3E8091649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D88C-9159-4FD6-AD7F-B7513B09550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DA7EC-E87D-6AE2-DBAC-D157B5C59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F52C2-BDB4-C7A5-6AFB-3C0199B18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CD6A-7F92-4E91-AB36-59C6B3414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803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4880C-3195-6620-727D-33CFA0203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B513D-2C5A-83D4-75CE-FFCE577B29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F4035-8CCB-E25B-204E-AC802E9C1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58670-065D-1AF3-5E8E-A90A09369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D88C-9159-4FD6-AD7F-B7513B09550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1005B-F4DF-32BE-3F6C-8D1916384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90897-F4CB-660D-0FA9-EBBB93E6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CD6A-7F92-4E91-AB36-59C6B3414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973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AA2F4-AA2A-50F9-BB67-2519BCBFC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4A059-FD3C-3479-F498-9E6785A8B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1BAC8A-08D2-58A0-FB3A-353838880D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75B37E-417B-7157-5260-5600433246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BDAA5C-AAAC-25DE-EC13-766D97ED3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C43D9E-FD9B-DB7C-40C2-E166409E1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D88C-9159-4FD6-AD7F-B7513B09550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CB7D53-41C0-C7C7-5FE0-83E512BAC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957564-6184-616C-6FFD-33BACA6B8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CD6A-7F92-4E91-AB36-59C6B3414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155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B0724-D490-9B59-8148-9E9E5B6D8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8327BA-412F-3CB2-6312-225FE03E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D88C-9159-4FD6-AD7F-B7513B09550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E11F-4729-0F5A-B00D-0270A055C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C5285E-78F9-8E34-828F-C224CF161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CD6A-7F92-4E91-AB36-59C6B3414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741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7A879-4663-B134-F178-A5F571B56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D88C-9159-4FD6-AD7F-B7513B09550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FCBAA4-7497-0CB6-83F0-60785B6D4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F1981-4617-ADCA-D4EA-B386EBBFF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CD6A-7F92-4E91-AB36-59C6B3414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362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910C7-750A-E8C4-5C1C-519E8E27F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F519F-51BB-4AE3-FA15-2DA8FFAA8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1E51A-E236-7E92-5C94-89E115F6A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A41C1-156D-46B1-0092-D915C0430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D88C-9159-4FD6-AD7F-B7513B09550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A9939-7A2C-8086-9177-4EAB49A14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C9160-E796-58F3-FA12-6E2C99581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CD6A-7F92-4E91-AB36-59C6B3414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198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7BEF9-1F7D-EA3E-D0FE-CAFC7957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E945D0-E2FB-2184-2377-B73B38FCEA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DC65B-E39C-56A1-3FB1-F69E3DFD0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F2921-AD65-45EC-52FD-54B9957FF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D88C-9159-4FD6-AD7F-B7513B09550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4BC16-5EDD-804F-34EB-E710F5A3E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C76FF-5FBC-8D86-6342-029FF0922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CD6A-7F92-4E91-AB36-59C6B3414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578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B035C-30A0-1172-D81E-081D4579E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208A45-0A95-677F-C537-B6E358432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49D7C-ECDD-8B2B-BF74-A9002C9D7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D88C-9159-4FD6-AD7F-B7513B09550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67D4C-2451-017C-BC3A-6ECC148DE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B7565-2B7D-5658-2823-968E640DE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CD6A-7F92-4E91-AB36-59C6B3414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131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B75984-D4E7-973C-B500-C4C92B767F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0CF72A-1305-639C-3287-BF65057F7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C3EB9-11E8-2300-91C4-F0B484177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D88C-9159-4FD6-AD7F-B7513B09550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A0C4D-0ED1-C40E-A71E-6B5C0925A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66C90-E97B-1C8F-5DE8-D133F7AA2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CD6A-7F92-4E91-AB36-59C6B3414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126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2577E0-C994-9CB9-36B1-87B699A68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5C895-783E-509D-47EA-5FADD6001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4E1EC-5BD1-16C7-21E5-61BD50EA3D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AD88C-9159-4FD6-AD7F-B7513B095506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AFDC0-9312-431A-30A1-DF0797177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09184-C3BD-0B54-38FB-7A974316E9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CCD6A-7F92-4E91-AB36-59C6B3414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01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goyaladi/fraud-detection-dataset" TargetMode="External"/><Relationship Id="rId2" Type="http://schemas.openxmlformats.org/officeDocument/2006/relationships/hyperlink" Target="https://www.kaggle.com/datasets/mlg-ulb/creditcardfraud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0071" y="1382454"/>
            <a:ext cx="9374173" cy="838200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identity authentication using blockchain and machine learning-based fraud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300" y="3733800"/>
            <a:ext cx="8153401" cy="1752600"/>
          </a:xfrm>
        </p:spPr>
        <p:txBody>
          <a:bodyPr>
            <a:normAutofit fontScale="92500"/>
          </a:bodyPr>
          <a:lstStyle/>
          <a:p>
            <a:r>
              <a:rPr lang="en-US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Chittiboina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Suresh</a:t>
            </a:r>
            <a:r>
              <a:rPr lang="en-US" sz="31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-(228W1A1279)</a:t>
            </a:r>
          </a:p>
          <a:p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Ganesh </a:t>
            </a:r>
            <a:r>
              <a:rPr lang="en-US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sankar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Karanam-</a:t>
            </a:r>
            <a:r>
              <a:rPr lang="en-US" sz="31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(228W1A1295)</a:t>
            </a:r>
          </a:p>
          <a:p>
            <a:endParaRPr lang="en-US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2" y="353065"/>
            <a:ext cx="1600199" cy="866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Image result for vrse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0" y="92669"/>
            <a:ext cx="1068572" cy="124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446721" y="267371"/>
            <a:ext cx="5486400" cy="758857"/>
          </a:xfrm>
          <a:prstGeom prst="rect">
            <a:avLst/>
          </a:prstGeom>
          <a:noFill/>
        </p:spPr>
        <p:txBody>
          <a:bodyPr wrap="square" lIns="19998" tIns="9999" rIns="19998" bIns="9999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Department of Information Technology</a:t>
            </a:r>
          </a:p>
          <a:p>
            <a:pPr algn="ctr"/>
            <a:r>
              <a:rPr lang="en-IN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V R Siddhartha Engineering College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1021" y="2819400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B.Tech in Information Technology</a:t>
            </a:r>
          </a:p>
          <a:p>
            <a:pPr algn="ctr"/>
            <a:r>
              <a:rPr lang="en-US" sz="2000" b="1" dirty="0">
                <a:solidFill>
                  <a:srgbClr val="BF11A6"/>
                </a:solidFill>
              </a:rPr>
              <a:t>Major Project Review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903921" y="5638801"/>
            <a:ext cx="49149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cs typeface="AngsanaUPC" panose="02020603050405020304" pitchFamily="18" charset="-34"/>
              </a:rPr>
              <a:t>Under the guidance of </a:t>
            </a:r>
          </a:p>
          <a:p>
            <a:pPr algn="ctr"/>
            <a:r>
              <a:rPr lang="en-US" sz="2000" b="1" dirty="0" err="1">
                <a:solidFill>
                  <a:srgbClr val="FF0000"/>
                </a:solidFill>
                <a:cs typeface="AngsanaUPC" panose="02020603050405020304" pitchFamily="18" charset="-34"/>
              </a:rPr>
              <a:t>Dr.S.Jaya</a:t>
            </a:r>
            <a:r>
              <a:rPr lang="en-US" sz="2000" b="1" dirty="0">
                <a:solidFill>
                  <a:srgbClr val="FF0000"/>
                </a:solidFill>
                <a:cs typeface="AngsanaUPC" panose="02020603050405020304" pitchFamily="18" charset="-34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cs typeface="AngsanaUPC" panose="02020603050405020304" pitchFamily="18" charset="-34"/>
              </a:rPr>
              <a:t>Prakash,Senior</a:t>
            </a:r>
            <a:r>
              <a:rPr lang="en-US" sz="2000" b="1" dirty="0">
                <a:solidFill>
                  <a:srgbClr val="FF0000"/>
                </a:solidFill>
                <a:cs typeface="AngsanaUPC" panose="02020603050405020304" pitchFamily="18" charset="-34"/>
              </a:rPr>
              <a:t> Assistant Professor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4689" y="2199759"/>
            <a:ext cx="639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Area: Blockchain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83BDF-1171-4B6E-B360-F8FAFB0EEC24}" type="datetime3">
              <a:rPr lang="en-US" smtClean="0"/>
              <a:t>20 April 2026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76" y="70295"/>
            <a:ext cx="10515600" cy="93259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90" y="501445"/>
            <a:ext cx="10349140" cy="6286260"/>
          </a:xfrm>
        </p:spPr>
        <p:txBody>
          <a:bodyPr>
            <a:normAutofit/>
          </a:bodyPr>
          <a:lstStyle/>
          <a:p>
            <a:pPr marL="0" lvl="0" indent="0">
              <a:lnSpc>
                <a:spcPct val="150000"/>
              </a:lnSpc>
              <a:buClr>
                <a:schemeClr val="dk1"/>
              </a:buClr>
              <a:buSzPts val="2400"/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Introduction and Problem statement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Objectives and Outcomes of the Project</a:t>
            </a:r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Literature Review and Summary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Datasets and Requirements</a:t>
            </a:r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Algorithms used in the Project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Architecture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Implementation steps and execution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 with charts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References</a:t>
            </a:r>
          </a:p>
          <a:p>
            <a:pPr marL="12700" lvl="0">
              <a:spcBef>
                <a:spcPts val="575"/>
              </a:spcBef>
            </a:pPr>
            <a:endParaRPr lang="en-US" sz="11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739C4-5527-F4B4-B1D1-F10D57E95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03" y="291973"/>
            <a:ext cx="10070592" cy="885225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4CAAA-9BC8-95C3-822E-0C5CDBE9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03" y="1447733"/>
            <a:ext cx="7150873" cy="435133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today's digital world, centralized systems often face problems like losing user data and weaker security because they depend on a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‘single point of server’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makes it easier to access and misuse personal information.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ways of verifying identities also don’t offer enough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‘transparency’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are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‘vulnerable’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hacking.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A9F8A0-A4F3-5265-9802-13C6F9B827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840" y="1283141"/>
            <a:ext cx="4133088" cy="413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711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194CC-40A9-4249-5879-99E1AE0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5D19D5-2C25-DB4B-CFDC-3618D9055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044" y="1500280"/>
            <a:ext cx="6105833" cy="47420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D90F7F-701A-C5B4-D267-29C4F1A3B933}"/>
              </a:ext>
            </a:extLst>
          </p:cNvPr>
          <p:cNvSpPr txBox="1"/>
          <p:nvPr/>
        </p:nvSpPr>
        <p:spPr>
          <a:xfrm>
            <a:off x="747251" y="1612041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fraud detection systems are centralized, vulnerable to attacks, lack transparency, and fail to provide explainable decisions. There is a need for a secure, decentralized, intelligent, and real-time fraud detection framework.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documents are also at risk of being stolen by attackers, so decentralized IPFS is used to store them.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is used to detect anomalous activities to help administrators monitor the system</a:t>
            </a:r>
          </a:p>
        </p:txBody>
      </p:sp>
    </p:spTree>
    <p:extLst>
      <p:ext uri="{BB962C8B-B14F-4D97-AF65-F5344CB8AC3E}">
        <p14:creationId xmlns:p14="http://schemas.microsoft.com/office/powerpoint/2010/main" val="161943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542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Outcomes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1885"/>
            <a:ext cx="10515600" cy="5430990"/>
          </a:xfrm>
        </p:spPr>
        <p:txBody>
          <a:bodyPr>
            <a:normAutofit fontScale="97500" lnSpcReduction="10000"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OBJECTIVES: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Secure and Identity Management using blockchain technology for immutable and decentralized data storage.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Use machine learning algorithms to detect fraudulent behaviour and predict risks.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functioning despite node failures in uploading the files</a:t>
            </a:r>
          </a:p>
          <a:p>
            <a:pPr marL="0" indent="0" algn="just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OUTCOMES: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Security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User identity and transaction data remain immutable on the blockchain.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Fraud Detection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Machine learning algorithms effectively differentiate fraudulent activities from legitimate ones.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 monitoring of user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 sharing without relying on trusted intermediaries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57BC2-4D7B-70EF-E866-998882D73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949" y="-212771"/>
            <a:ext cx="10459064" cy="105205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Summary</a:t>
            </a:r>
            <a:endParaRPr lang="en-IN" sz="36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8ADB19-9D4F-00D3-AF2D-CD1CBD1050B8}"/>
              </a:ext>
            </a:extLst>
          </p:cNvPr>
          <p:cNvGraphicFramePr>
            <a:graphicFrameLocks noGrp="1"/>
          </p:cNvGraphicFramePr>
          <p:nvPr/>
        </p:nvGraphicFramePr>
        <p:xfrm>
          <a:off x="422787" y="698089"/>
          <a:ext cx="11412585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580">
                  <a:extLst>
                    <a:ext uri="{9D8B030D-6E8A-4147-A177-3AD203B41FA5}">
                      <a16:colId xmlns:a16="http://schemas.microsoft.com/office/drawing/2014/main" val="1917910821"/>
                    </a:ext>
                  </a:extLst>
                </a:gridCol>
                <a:gridCol w="2948188">
                  <a:extLst>
                    <a:ext uri="{9D8B030D-6E8A-4147-A177-3AD203B41FA5}">
                      <a16:colId xmlns:a16="http://schemas.microsoft.com/office/drawing/2014/main" val="2821113952"/>
                    </a:ext>
                  </a:extLst>
                </a:gridCol>
                <a:gridCol w="2533459">
                  <a:extLst>
                    <a:ext uri="{9D8B030D-6E8A-4147-A177-3AD203B41FA5}">
                      <a16:colId xmlns:a16="http://schemas.microsoft.com/office/drawing/2014/main" val="3013039466"/>
                    </a:ext>
                  </a:extLst>
                </a:gridCol>
                <a:gridCol w="2659680">
                  <a:extLst>
                    <a:ext uri="{9D8B030D-6E8A-4147-A177-3AD203B41FA5}">
                      <a16:colId xmlns:a16="http://schemas.microsoft.com/office/drawing/2014/main" val="2923662127"/>
                    </a:ext>
                  </a:extLst>
                </a:gridCol>
                <a:gridCol w="2567678">
                  <a:extLst>
                    <a:ext uri="{9D8B030D-6E8A-4147-A177-3AD203B41FA5}">
                      <a16:colId xmlns:a16="http://schemas.microsoft.com/office/drawing/2014/main" val="3898472011"/>
                    </a:ext>
                  </a:extLst>
                </a:gridCol>
              </a:tblGrid>
              <a:tr h="341546">
                <a:tc>
                  <a:txBody>
                    <a:bodyPr/>
                    <a:lstStyle/>
                    <a:p>
                      <a:pPr algn="ctr"/>
                      <a:r>
                        <a:rPr lang="en-IN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 &amp; Contribution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2711282"/>
                  </a:ext>
                </a:extLst>
              </a:tr>
              <a:tr h="1769349"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and AI-Empowered Healthcare Insurance Fraud Detection: An Analysis, Architecture, and Future Prospects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of Blockchain &amp; AI for fraud detection in healthcare insurance.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Similar fraud detection principles can be applied to financial transactions to prevent fraudulent activities.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 an AI-blockchain integrated architecture for fraud detection, ensuring security, transparency, and efficiency in fraud prevention.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0449067"/>
                  </a:ext>
                </a:extLst>
              </a:tr>
              <a:tr h="1286800"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 the Integration of Artificial Intelligence and Blockchain Technology: A Perspective About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and blockchain integration with a focus on security aspects.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Highlights how blockchain can secure transaction data and prevent fraudulent modifications, relevant for financial fraud detection.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Discusses blockchain’s role in securing AI-driven systems and preventing fraud by ensuring data integrity.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5128547"/>
                  </a:ext>
                </a:extLst>
              </a:tr>
              <a:tr h="1286800"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on Blockchain-Enhanced 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blockchain improves machine learning applications.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the integration of fraud detection ML models with blockchain for secure, tamper-proof predictions.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Explores decentralized ML models, enabling secure fraud detection and data privacy using blockchain.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4053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387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192ABC-50C5-CF87-6F9F-873746C01A87}"/>
              </a:ext>
            </a:extLst>
          </p:cNvPr>
          <p:cNvGraphicFramePr>
            <a:graphicFrameLocks noGrp="1"/>
          </p:cNvGraphicFramePr>
          <p:nvPr/>
        </p:nvGraphicFramePr>
        <p:xfrm>
          <a:off x="491613" y="560440"/>
          <a:ext cx="10844979" cy="5950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389">
                  <a:extLst>
                    <a:ext uri="{9D8B030D-6E8A-4147-A177-3AD203B41FA5}">
                      <a16:colId xmlns:a16="http://schemas.microsoft.com/office/drawing/2014/main" val="967170934"/>
                    </a:ext>
                  </a:extLst>
                </a:gridCol>
                <a:gridCol w="3512602">
                  <a:extLst>
                    <a:ext uri="{9D8B030D-6E8A-4147-A177-3AD203B41FA5}">
                      <a16:colId xmlns:a16="http://schemas.microsoft.com/office/drawing/2014/main" val="1384410772"/>
                    </a:ext>
                  </a:extLst>
                </a:gridCol>
                <a:gridCol w="2168996">
                  <a:extLst>
                    <a:ext uri="{9D8B030D-6E8A-4147-A177-3AD203B41FA5}">
                      <a16:colId xmlns:a16="http://schemas.microsoft.com/office/drawing/2014/main" val="152931357"/>
                    </a:ext>
                  </a:extLst>
                </a:gridCol>
                <a:gridCol w="2168996">
                  <a:extLst>
                    <a:ext uri="{9D8B030D-6E8A-4147-A177-3AD203B41FA5}">
                      <a16:colId xmlns:a16="http://schemas.microsoft.com/office/drawing/2014/main" val="45211020"/>
                    </a:ext>
                  </a:extLst>
                </a:gridCol>
                <a:gridCol w="2168996">
                  <a:extLst>
                    <a:ext uri="{9D8B030D-6E8A-4147-A177-3AD203B41FA5}">
                      <a16:colId xmlns:a16="http://schemas.microsoft.com/office/drawing/2014/main" val="2748759834"/>
                    </a:ext>
                  </a:extLst>
                </a:gridCol>
              </a:tblGrid>
              <a:tr h="8110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Focus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Project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 &amp; Contribution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862262"/>
                  </a:ext>
                </a:extLst>
              </a:tr>
              <a:tr h="247534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Integrating Machine Learning and Blockchain for Decentralized Identity Management Systems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ML and blockchain for identity verification and fraud prevention.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authentication in your project to prevent identity fraud and store verified user identities securely on the blockchain.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 a decentralized identity management system, leveraging ML for anomaly detection and blockchain for secure user identity storage.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438592"/>
                  </a:ext>
                </a:extLst>
              </a:tr>
              <a:tr h="247534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SuperCert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An Anti-Fraud Identity Intelligence Blockchain Solution for Educational Certificates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Blockchain-based verification system for educational credentials and IPFS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storage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IPFS for document security.</a:t>
                      </a:r>
                      <a:r>
                        <a:rPr lang="en-US" dirty="0"/>
                        <a:t>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for anomaly detection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IPFS through Pinata service for file storage.</a:t>
                      </a:r>
                      <a:r>
                        <a:rPr lang="en-IN" dirty="0"/>
                        <a:t> 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Instant 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735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8795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388DA-EE5E-FAD8-94A8-D431C40FA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and Requirements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FEAA43-181E-87D0-5146-1F9F272A1BA8}"/>
              </a:ext>
            </a:extLst>
          </p:cNvPr>
          <p:cNvSpPr txBox="1"/>
          <p:nvPr/>
        </p:nvSpPr>
        <p:spPr>
          <a:xfrm>
            <a:off x="838200" y="1253872"/>
            <a:ext cx="105156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activity data and Transaction data: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https://www.kaggle.com/datasets/mlg-ulb/creditcardfraud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https://www.kaggle.com/datasets/goyaladi/fraud-detection-dataset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tools:</a:t>
            </a: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: Ethereum and Ganache application to deploy the user details,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Sepolia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Testnet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Alchemy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API,Etherscan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  : Truffle Framework tool</a:t>
            </a: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IPFS: Pinata API (https://api.pinata.cloud/pinning/pinFileToIPFS),</a:t>
            </a:r>
            <a:r>
              <a:rPr lang="en-IN" sz="2400" dirty="0"/>
              <a:t> Desktop App (ipfs.io)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MetaMask : transaction of request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:</a:t>
            </a: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       : Python</a:t>
            </a: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 : Pandas ,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            : random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forest,Xgboost,LightGBM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263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04901C-5B33-09D0-0C28-9FB58463ECE2}"/>
              </a:ext>
            </a:extLst>
          </p:cNvPr>
          <p:cNvSpPr txBox="1"/>
          <p:nvPr/>
        </p:nvSpPr>
        <p:spPr>
          <a:xfrm>
            <a:off x="648929" y="422786"/>
            <a:ext cx="551589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Algorithms used in the Project :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8F3336-2CC0-4CF8-EB02-9EA3852D7CD8}"/>
              </a:ext>
            </a:extLst>
          </p:cNvPr>
          <p:cNvSpPr txBox="1"/>
          <p:nvPr/>
        </p:nvSpPr>
        <p:spPr>
          <a:xfrm>
            <a:off x="894735" y="990966"/>
            <a:ext cx="85933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implemented: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			:Optimized boosting model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		:Fast and efficient boosting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Classifier	:Sequential error correction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		:Ensemble of decision trees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		:Simple classification model</a:t>
            </a:r>
          </a:p>
        </p:txBody>
      </p:sp>
    </p:spTree>
    <p:extLst>
      <p:ext uri="{BB962C8B-B14F-4D97-AF65-F5344CB8AC3E}">
        <p14:creationId xmlns:p14="http://schemas.microsoft.com/office/powerpoint/2010/main" val="1033266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0D9561-31BF-D77E-9403-15D363431D95}"/>
              </a:ext>
            </a:extLst>
          </p:cNvPr>
          <p:cNvSpPr txBox="1"/>
          <p:nvPr/>
        </p:nvSpPr>
        <p:spPr>
          <a:xfrm>
            <a:off x="1199535" y="1010289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1.Start</a:t>
            </a:r>
          </a:p>
          <a:p>
            <a:endParaRPr lang="en-IN" dirty="0"/>
          </a:p>
          <a:p>
            <a:r>
              <a:rPr lang="en-IN" dirty="0"/>
              <a:t>2.Load dataset</a:t>
            </a:r>
          </a:p>
          <a:p>
            <a:r>
              <a:rPr lang="en-IN" dirty="0"/>
              <a:t>3.Preprocess data (cleaning, splitting)</a:t>
            </a:r>
          </a:p>
          <a:p>
            <a:endParaRPr lang="en-IN" dirty="0"/>
          </a:p>
          <a:p>
            <a:r>
              <a:rPr lang="en-IN" dirty="0"/>
              <a:t>4.For each algorithm:</a:t>
            </a:r>
          </a:p>
          <a:p>
            <a:r>
              <a:rPr lang="en-IN" dirty="0"/>
              <a:t>    Define model</a:t>
            </a:r>
          </a:p>
          <a:p>
            <a:r>
              <a:rPr lang="en-IN" dirty="0"/>
              <a:t>    Define hyperparameters</a:t>
            </a:r>
          </a:p>
          <a:p>
            <a:r>
              <a:rPr lang="en-IN" dirty="0"/>
              <a:t>    Apply </a:t>
            </a:r>
            <a:r>
              <a:rPr lang="en-IN" dirty="0" err="1"/>
              <a:t>GridSearchCV</a:t>
            </a:r>
            <a:endParaRPr lang="en-IN" dirty="0"/>
          </a:p>
          <a:p>
            <a:r>
              <a:rPr lang="en-IN" dirty="0"/>
              <a:t>    Train model</a:t>
            </a:r>
          </a:p>
          <a:p>
            <a:r>
              <a:rPr lang="en-IN" dirty="0"/>
              <a:t>    Evaluate performance</a:t>
            </a:r>
          </a:p>
          <a:p>
            <a:endParaRPr lang="en-IN" dirty="0"/>
          </a:p>
          <a:p>
            <a:r>
              <a:rPr lang="en-IN" dirty="0"/>
              <a:t>5. Compare all models</a:t>
            </a:r>
          </a:p>
          <a:p>
            <a:r>
              <a:rPr lang="en-IN" dirty="0"/>
              <a:t>6. Select best model</a:t>
            </a:r>
          </a:p>
          <a:p>
            <a:endParaRPr lang="en-IN" dirty="0"/>
          </a:p>
          <a:p>
            <a:r>
              <a:rPr lang="en-IN" dirty="0"/>
              <a:t>7. Make final predictions</a:t>
            </a:r>
          </a:p>
          <a:p>
            <a:endParaRPr lang="en-IN" dirty="0"/>
          </a:p>
          <a:p>
            <a:r>
              <a:rPr lang="en-IN" dirty="0"/>
              <a:t>8. 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BB6003-23EA-8EDE-7AC2-30B7053704B0}"/>
              </a:ext>
            </a:extLst>
          </p:cNvPr>
          <p:cNvSpPr txBox="1"/>
          <p:nvPr/>
        </p:nvSpPr>
        <p:spPr>
          <a:xfrm>
            <a:off x="1052052" y="324464"/>
            <a:ext cx="1800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 </a:t>
            </a:r>
          </a:p>
        </p:txBody>
      </p:sp>
    </p:spTree>
    <p:extLst>
      <p:ext uri="{BB962C8B-B14F-4D97-AF65-F5344CB8AC3E}">
        <p14:creationId xmlns:p14="http://schemas.microsoft.com/office/powerpoint/2010/main" val="2103107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E954B-A70E-DD28-F9AD-E8FE7E200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Diagram:</a:t>
            </a:r>
            <a:br>
              <a:rPr lang="en-IN" sz="3600" dirty="0"/>
            </a:br>
            <a:endParaRPr lang="en-IN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4AC658-0185-A472-08C3-18B541813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2465" y="1350014"/>
            <a:ext cx="6577780" cy="50672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5759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BB67C-CBCE-B4C3-CEF5-CECD26D60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steps and Execution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32CD2-084D-C5F0-7CB2-3BDBDEB70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9535"/>
            <a:ext cx="10515600" cy="52933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Importing Libraries</a:t>
            </a:r>
          </a:p>
          <a:p>
            <a:pPr marL="45720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pandas,numpy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scikit-learn</a:t>
            </a:r>
          </a:p>
          <a:p>
            <a:pPr marL="45720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imblearn.SMOTE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f_classif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Loading of datasets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details</a:t>
            </a:r>
          </a:p>
          <a:p>
            <a:pPr marL="914400" lvl="2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-Metadata about transactions</a:t>
            </a:r>
          </a:p>
          <a:p>
            <a:pPr marL="914400" lvl="2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-Customer information</a:t>
            </a:r>
          </a:p>
          <a:p>
            <a:pPr marL="914400" lvl="2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-Fraud labels </a:t>
            </a:r>
          </a:p>
          <a:p>
            <a:pPr marL="914400" lvl="2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-Transaction amounts and anomaly scores</a:t>
            </a:r>
          </a:p>
          <a:p>
            <a:pPr marL="457200" lvl="1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885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7AF443-0E7B-42C4-A137-DA346F496BED}"/>
              </a:ext>
            </a:extLst>
          </p:cNvPr>
          <p:cNvSpPr txBox="1"/>
          <p:nvPr/>
        </p:nvSpPr>
        <p:spPr>
          <a:xfrm>
            <a:off x="1666240" y="117693"/>
            <a:ext cx="973328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Merging Datasets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-Merge the all datasets into single transactions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Data Cleaning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droping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 and address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-filling missing values with zero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5:Encoding Categorical Features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-we convert the textual labels into numeric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-non-fraud=0 and fraud=1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Feature Scaling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-we scale the features to have equal weight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400" dirty="0"/>
              <a:t>z=x−</a:t>
            </a:r>
            <a:r>
              <a:rPr lang="el-GR" sz="2400" dirty="0"/>
              <a:t>μ​ </a:t>
            </a:r>
            <a:r>
              <a:rPr lang="en-IN" sz="2400" dirty="0"/>
              <a:t>/</a:t>
            </a:r>
            <a:r>
              <a:rPr lang="el-GR" sz="2400" dirty="0"/>
              <a:t> σ</a:t>
            </a:r>
            <a:endParaRPr lang="en-IN" sz="2400" dirty="0"/>
          </a:p>
          <a:p>
            <a:endParaRPr lang="en-IN" sz="2400" dirty="0"/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7:Handle Class Imbalance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-Using the smote to balance the classes</a:t>
            </a:r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992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EE6227-AB83-4FE1-39E9-DF572FA0BE20}"/>
              </a:ext>
            </a:extLst>
          </p:cNvPr>
          <p:cNvSpPr txBox="1"/>
          <p:nvPr/>
        </p:nvSpPr>
        <p:spPr>
          <a:xfrm>
            <a:off x="640080" y="247134"/>
            <a:ext cx="116586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8:Feature Selection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ANOVA F-test to select the top 20 most relevant features.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F=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betweengroup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variance​ /within-group variance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9: XGBOOST, LIGHTGBM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-We use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find the best hyperparameters.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Prediction=Majority Vote of All Trees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10 :Model Evaluation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-Accuracy,precision,recall,f1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score,ROC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-AUC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score,confusion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matrix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695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52D191-CD52-E608-20BF-5969821D1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30" y="924087"/>
            <a:ext cx="6001588" cy="2286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392B68-F819-8317-AF0E-4BD7E5FEE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30" y="3878426"/>
            <a:ext cx="6001588" cy="22482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86296E-E5B0-744A-2D7B-4F0FB63FC765}"/>
              </a:ext>
            </a:extLst>
          </p:cNvPr>
          <p:cNvSpPr txBox="1"/>
          <p:nvPr/>
        </p:nvSpPr>
        <p:spPr>
          <a:xfrm>
            <a:off x="814930" y="462422"/>
            <a:ext cx="2468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9C0F9B-EA78-A044-BC68-BECF0F282866}"/>
              </a:ext>
            </a:extLst>
          </p:cNvPr>
          <p:cNvSpPr txBox="1"/>
          <p:nvPr/>
        </p:nvSpPr>
        <p:spPr>
          <a:xfrm>
            <a:off x="814930" y="3313583"/>
            <a:ext cx="1552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4D4953-C93B-C8E8-955B-03713E48082F}"/>
              </a:ext>
            </a:extLst>
          </p:cNvPr>
          <p:cNvSpPr txBox="1"/>
          <p:nvPr/>
        </p:nvSpPr>
        <p:spPr>
          <a:xfrm>
            <a:off x="619432" y="66857"/>
            <a:ext cx="1511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:</a:t>
            </a:r>
          </a:p>
        </p:txBody>
      </p:sp>
    </p:spTree>
    <p:extLst>
      <p:ext uri="{BB962C8B-B14F-4D97-AF65-F5344CB8AC3E}">
        <p14:creationId xmlns:p14="http://schemas.microsoft.com/office/powerpoint/2010/main" val="2256268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73D238-FB04-FC9B-3E94-1BF6D47CBB8C}"/>
              </a:ext>
            </a:extLst>
          </p:cNvPr>
          <p:cNvSpPr txBox="1"/>
          <p:nvPr/>
        </p:nvSpPr>
        <p:spPr>
          <a:xfrm>
            <a:off x="523097" y="501445"/>
            <a:ext cx="1875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IN" sz="2400" b="1" dirty="0"/>
              <a:t>:</a:t>
            </a:r>
            <a:endParaRPr lang="en-IN"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1DAE0E-2FB2-1527-C401-28A797328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032256"/>
              </p:ext>
            </p:extLst>
          </p:nvPr>
        </p:nvGraphicFramePr>
        <p:xfrm>
          <a:off x="1619045" y="2745112"/>
          <a:ext cx="8128002" cy="2392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5441687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79689736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795728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2108098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95811159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457451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ROC-AUC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924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0.623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430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769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LightGBM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467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XGBoost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47858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BDCE9B5-B946-4D48-B8DD-7F84D70F9D2A}"/>
              </a:ext>
            </a:extLst>
          </p:cNvPr>
          <p:cNvSpPr txBox="1"/>
          <p:nvPr/>
        </p:nvSpPr>
        <p:spPr>
          <a:xfrm>
            <a:off x="3429063" y="1927122"/>
            <a:ext cx="45079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Machine learning models  </a:t>
            </a:r>
          </a:p>
        </p:txBody>
      </p:sp>
    </p:spTree>
    <p:extLst>
      <p:ext uri="{BB962C8B-B14F-4D97-AF65-F5344CB8AC3E}">
        <p14:creationId xmlns:p14="http://schemas.microsoft.com/office/powerpoint/2010/main" val="1124430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3487888-9DCB-CB13-EBFB-E94EB1820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954" y="1799303"/>
            <a:ext cx="9616091" cy="442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976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0DC14F-62A8-CE83-D291-F2CEB1911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256" y="1491328"/>
            <a:ext cx="6159206" cy="34641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E9B63E-3232-9E75-9E19-205C4A06B9B4}"/>
              </a:ext>
            </a:extLst>
          </p:cNvPr>
          <p:cNvSpPr txBox="1"/>
          <p:nvPr/>
        </p:nvSpPr>
        <p:spPr>
          <a:xfrm>
            <a:off x="2054943" y="658761"/>
            <a:ext cx="349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Real-Time monitoring dashboard</a:t>
            </a:r>
          </a:p>
        </p:txBody>
      </p:sp>
    </p:spTree>
    <p:extLst>
      <p:ext uri="{BB962C8B-B14F-4D97-AF65-F5344CB8AC3E}">
        <p14:creationId xmlns:p14="http://schemas.microsoft.com/office/powerpoint/2010/main" val="2380963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EE0280C-7E02-A4F1-25ED-38D6D99A2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6" y="1931001"/>
            <a:ext cx="4683258" cy="37072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7175E8-38C8-DD88-AE4F-61EF2EB585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402" y="1967872"/>
            <a:ext cx="5344772" cy="42805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9AA1CC-96F5-4D6C-7C02-361B89C19550}"/>
              </a:ext>
            </a:extLst>
          </p:cNvPr>
          <p:cNvSpPr txBox="1"/>
          <p:nvPr/>
        </p:nvSpPr>
        <p:spPr>
          <a:xfrm>
            <a:off x="645826" y="540774"/>
            <a:ext cx="4304833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Result analysis with charts 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2814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B8A7AA-273E-72A5-C562-0411FC768692}"/>
              </a:ext>
            </a:extLst>
          </p:cNvPr>
          <p:cNvSpPr txBox="1"/>
          <p:nvPr/>
        </p:nvSpPr>
        <p:spPr>
          <a:xfrm>
            <a:off x="835741" y="589936"/>
            <a:ext cx="3537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30509B-860E-6951-BBE0-4C06D1E2AD07}"/>
              </a:ext>
            </a:extLst>
          </p:cNvPr>
          <p:cNvSpPr txBox="1"/>
          <p:nvPr/>
        </p:nvSpPr>
        <p:spPr>
          <a:xfrm>
            <a:off x="943897" y="1573161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dirty="0"/>
              <a:t> :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C93BF03-5075-71A5-C8AA-FA09A6163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97" y="2065244"/>
            <a:ext cx="607570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integrated fraud detection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Compared multiple ML models to improve accuracy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engine improved classification clarity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Blockchain + IPFS ensured secure data handling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dashboard enhanced monitoring and usability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AFD048-8071-2965-B9C9-94FBFCCD3A20}"/>
              </a:ext>
            </a:extLst>
          </p:cNvPr>
          <p:cNvSpPr txBox="1"/>
          <p:nvPr/>
        </p:nvSpPr>
        <p:spPr>
          <a:xfrm>
            <a:off x="943897" y="4268086"/>
            <a:ext cx="170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BBCFD62-14DF-D199-90A1-0F635DA14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161455"/>
            <a:ext cx="513794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 system on public blockchain network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 large-scale real-time transaction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automated alert and response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model using deep learning techniques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dashboard with advanced analytics </a:t>
            </a:r>
          </a:p>
        </p:txBody>
      </p:sp>
    </p:spTree>
    <p:extLst>
      <p:ext uri="{BB962C8B-B14F-4D97-AF65-F5344CB8AC3E}">
        <p14:creationId xmlns:p14="http://schemas.microsoft.com/office/powerpoint/2010/main" val="4896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1389"/>
            <a:ext cx="10515600" cy="91503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19295"/>
            <a:ext cx="10515600" cy="482536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Alanzi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Haifa, and Mohammad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Alkhatib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"Towards improving privacy and security of identity management systems using blockchain technology: A systematic review." Applied Sciences 12.23 (2022): 12415.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18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Kapadiya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Khyati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et al. "Blockchain and AI-empowered healthcare insurance fraud detection: an analysis, architecture, and future prospects." IEEE Access 10 (2022): 79606-79627.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Kuznetsov, Oleksandr, et al. "On the integration of artificial intelligence and blockchain technology: a perspective about security." IEEE Access 12 (2024): 3881-3897.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Ural, Ozgur, and Kenji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Yoshigoe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"Survey on Blockchain-Enhanced Machine Learning." IEEE Access 11 (2023): 145331-145362.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Zheng,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Qiuhong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 "An innovative IPFS-based storage model for blockchain." 2018 IEEE/WIC/ACM international conference on web intelligence (WI). IEEE, 2018.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Doan, Trinh Viet, et al. "Toward decentralized cloud storage with IPFS: opportunities, challenges, and future considerations." IEEE Internet Computing 26.6 (2022): 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1425</Words>
  <Application>Microsoft Office PowerPoint</Application>
  <PresentationFormat>Widescreen</PresentationFormat>
  <Paragraphs>229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AngsanaUPC</vt:lpstr>
      <vt:lpstr>Arial</vt:lpstr>
      <vt:lpstr>Calibri</vt:lpstr>
      <vt:lpstr>Calibri Light</vt:lpstr>
      <vt:lpstr>Times New Roman</vt:lpstr>
      <vt:lpstr>Wingdings</vt:lpstr>
      <vt:lpstr>Office Theme</vt:lpstr>
      <vt:lpstr>Decentralized identity authentication using blockchain and machine learning-based fraud detection</vt:lpstr>
      <vt:lpstr>  Agenda</vt:lpstr>
      <vt:lpstr>Introduction</vt:lpstr>
      <vt:lpstr>Problem Statement</vt:lpstr>
      <vt:lpstr>Objectives and Outcomes of the Project</vt:lpstr>
      <vt:lpstr>Literature Summary</vt:lpstr>
      <vt:lpstr>PowerPoint Presentation</vt:lpstr>
      <vt:lpstr>Datasets and Requirements:</vt:lpstr>
      <vt:lpstr>PowerPoint Presentation</vt:lpstr>
      <vt:lpstr>PowerPoint Presentation</vt:lpstr>
      <vt:lpstr>Architecture Diagram: </vt:lpstr>
      <vt:lpstr>Implementation steps and Execution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KARANAM GANESH SHANKAR KUMAR</dc:creator>
  <cp:lastModifiedBy>KARANAM GANESH SHANKAR KUMAR</cp:lastModifiedBy>
  <cp:revision>9</cp:revision>
  <dcterms:created xsi:type="dcterms:W3CDTF">2026-02-27T05:45:57Z</dcterms:created>
  <dcterms:modified xsi:type="dcterms:W3CDTF">2026-04-20T16:16:49Z</dcterms:modified>
</cp:coreProperties>
</file>